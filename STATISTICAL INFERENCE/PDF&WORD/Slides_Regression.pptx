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2" r:id="rId16"/>
    <p:sldId id="271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91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802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29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65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624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491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96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09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44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428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81F9-3FBA-4C18-9B4A-64B583EDF276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58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E81F9-3FBA-4C18-9B4A-64B583EDF276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9DB90-33EC-43B2-9522-014BD48D2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528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19125"/>
            <a:ext cx="10515600" cy="1325563"/>
          </a:xfrm>
        </p:spPr>
        <p:txBody>
          <a:bodyPr/>
          <a:lstStyle/>
          <a:p>
            <a:r>
              <a:rPr lang="en-GB" dirty="0"/>
              <a:t>Getting started for simple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80780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Download </a:t>
            </a:r>
            <a:r>
              <a:rPr lang="en-GB" b="1" dirty="0" err="1"/>
              <a:t>Regression_worksheet.Rmd</a:t>
            </a:r>
            <a:r>
              <a:rPr lang="en-GB" dirty="0"/>
              <a:t> from Blackboard. Make sure you have the following new packages installed </a:t>
            </a:r>
          </a:p>
          <a:p>
            <a:pPr lvl="1"/>
            <a:r>
              <a:rPr lang="en-GB" b="1" dirty="0"/>
              <a:t>performance</a:t>
            </a:r>
          </a:p>
          <a:p>
            <a:pPr lvl="1"/>
            <a:r>
              <a:rPr lang="en-GB" b="1" dirty="0" err="1"/>
              <a:t>corrplot</a:t>
            </a:r>
            <a:endParaRPr lang="en-GB" b="1" dirty="0"/>
          </a:p>
          <a:p>
            <a:pPr marL="457200" lvl="1" indent="0">
              <a:buNone/>
            </a:pPr>
            <a:r>
              <a:rPr lang="en-GB" dirty="0"/>
              <a:t>This package may present an error message without some additional packages installed, e.g. ‘see’. The solution is to install these packages.</a:t>
            </a:r>
          </a:p>
          <a:p>
            <a:pPr marL="457200" lvl="1" indent="0">
              <a:buNone/>
            </a:pPr>
            <a:r>
              <a:rPr lang="en-GB" dirty="0"/>
              <a:t>If you use the function </a:t>
            </a:r>
            <a:r>
              <a:rPr lang="en-GB" i="1" dirty="0" err="1"/>
              <a:t>install.packages</a:t>
            </a:r>
            <a:r>
              <a:rPr lang="en-GB" i="1" dirty="0"/>
              <a:t>(“see”) </a:t>
            </a:r>
            <a:r>
              <a:rPr lang="en-GB" dirty="0"/>
              <a:t>you will need to delete or comment out this command prior to knitting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knit</a:t>
            </a:r>
            <a:r>
              <a:rPr lang="en-GB" dirty="0"/>
              <a:t> to </a:t>
            </a:r>
            <a:r>
              <a:rPr lang="en-GB" b="1" dirty="0"/>
              <a:t>Word   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Start to read through the worksheet.</a:t>
            </a:r>
          </a:p>
        </p:txBody>
      </p:sp>
    </p:spTree>
    <p:extLst>
      <p:ext uri="{BB962C8B-B14F-4D97-AF65-F5344CB8AC3E}">
        <p14:creationId xmlns:p14="http://schemas.microsoft.com/office/powerpoint/2010/main" val="3580292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A86992-CF3F-E703-8920-85376E6428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Simple linear regression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0BE8B74-4B8E-CBAA-13B6-95D7E6FA0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Statistical Inference</a:t>
            </a:r>
          </a:p>
        </p:txBody>
      </p:sp>
    </p:spTree>
    <p:extLst>
      <p:ext uri="{BB962C8B-B14F-4D97-AF65-F5344CB8AC3E}">
        <p14:creationId xmlns:p14="http://schemas.microsoft.com/office/powerpoint/2010/main" val="405308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6EF4-4F83-A906-46D5-77FF3CAEB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D3C0D5-A244-B563-B17B-5EF35F222A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Two continuous variables that are related to one another</a:t>
                </a:r>
              </a:p>
              <a:p>
                <a:r>
                  <a:rPr lang="en-GB" dirty="0"/>
                  <a:t>Ask ‘What variable am I trying to explain the variation of?’ or </a:t>
                </a:r>
                <a:br>
                  <a:rPr lang="en-GB" dirty="0"/>
                </a:br>
                <a:r>
                  <a:rPr lang="en-GB" dirty="0"/>
                  <a:t>‘What variable am I trying to predict?’</a:t>
                </a:r>
              </a:p>
              <a:p>
                <a:r>
                  <a:rPr lang="en-GB" dirty="0"/>
                  <a:t>This variable, called the </a:t>
                </a:r>
                <a:r>
                  <a:rPr lang="en-GB" b="1" dirty="0"/>
                  <a:t>dependent</a:t>
                </a:r>
                <a:r>
                  <a:rPr lang="en-GB" dirty="0"/>
                  <a:t> or </a:t>
                </a:r>
                <a:r>
                  <a:rPr lang="en-GB" b="1" dirty="0"/>
                  <a:t>response</a:t>
                </a:r>
                <a:r>
                  <a:rPr lang="en-GB" dirty="0"/>
                  <a:t> variable, is of primary concern.</a:t>
                </a:r>
              </a:p>
              <a:p>
                <a:r>
                  <a:rPr lang="en-GB" dirty="0"/>
                  <a:t>In mathematics, we denote this variable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. We plot it on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(vertical) axis of the scatterplot.</a:t>
                </a:r>
              </a:p>
              <a:p>
                <a:r>
                  <a:rPr lang="en-GB" dirty="0"/>
                  <a:t>The other variable is known as the </a:t>
                </a:r>
                <a:r>
                  <a:rPr lang="en-GB" b="1" dirty="0"/>
                  <a:t>independent</a:t>
                </a:r>
                <a:r>
                  <a:rPr lang="en-GB" dirty="0"/>
                  <a:t> or </a:t>
                </a:r>
                <a:r>
                  <a:rPr lang="en-GB" b="1" dirty="0"/>
                  <a:t>explanatory</a:t>
                </a:r>
                <a:r>
                  <a:rPr lang="en-GB" dirty="0"/>
                  <a:t> variable (and other names) and is usually denoted by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D3C0D5-A244-B563-B17B-5EF35F222A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035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64A3-6F37-C4C7-013B-ACC6D8AF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F9B5BF-9A36-D0A4-5FBA-1DEAF4C0A2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Our linear model is</a:t>
                </a:r>
                <a:r>
                  <a:rPr lang="en-GB" b="0" i="1" dirty="0">
                    <a:latin typeface="Cambria Math" panose="02040503050406030204" pitchFamily="18" charset="0"/>
                  </a:rPr>
                  <a:t/>
                </a: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b="0" dirty="0"/>
              </a:p>
              <a:p>
                <a:r>
                  <a:rPr lang="en-GB" dirty="0"/>
                  <a:t>Where 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represent the </a:t>
                </a:r>
                <a:r>
                  <a:rPr lang="en-GB" b="1" dirty="0"/>
                  <a:t>intercept</a:t>
                </a:r>
                <a:r>
                  <a:rPr lang="en-GB" dirty="0"/>
                  <a:t> and </a:t>
                </a:r>
                <a:r>
                  <a:rPr lang="en-GB" b="1" dirty="0"/>
                  <a:t>slope/gradient</a:t>
                </a:r>
                <a:r>
                  <a:rPr lang="en-GB" dirty="0"/>
                  <a:t> of the straight line. We use Greek letters to represent them as they refer to the population values of these coefficients. We estimate them from our data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residuals/errors</a:t>
                </a:r>
                <a:r>
                  <a:rPr lang="en-GB" dirty="0"/>
                  <a:t>,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 represent how far a point is from the fitted line.</a:t>
                </a:r>
              </a:p>
              <a:p>
                <a:r>
                  <a:rPr lang="en-GB" dirty="0"/>
                  <a:t>The video on least squares explains the mathematics behind fitting the estimates.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F9B5BF-9A36-D0A4-5FBA-1DEAF4C0A2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507" b="-30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877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DB91-BBF8-CE9D-65C6-DC1E585A0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Fitted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744C8E-9B37-7A56-36A2-BA4506550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use R to obtain </a:t>
                </a:r>
                <a:r>
                  <a:rPr lang="en-GB" b="1" dirty="0"/>
                  <a:t>estimates</a:t>
                </a:r>
                <a:r>
                  <a:rPr lang="en-GB" dirty="0"/>
                  <a:t> of the intercept and 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Our </a:t>
                </a:r>
                <a:r>
                  <a:rPr lang="en-GB" b="1" dirty="0"/>
                  <a:t>fitted value </a:t>
                </a:r>
                <a:r>
                  <a:rPr lang="en-GB" dirty="0"/>
                  <a:t>for an observation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therefore</a:t>
                </a:r>
                <a:br>
                  <a:rPr lang="en-GB" dirty="0"/>
                </a:br>
                <a:r>
                  <a:rPr lang="en-GB" b="0" i="1" dirty="0">
                    <a:latin typeface="Cambria Math" panose="02040503050406030204" pitchFamily="18" charset="0"/>
                  </a:rPr>
                  <a:t/>
                </a: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endParaRPr lang="en-GB" dirty="0"/>
              </a:p>
              <a:p>
                <a:r>
                  <a:rPr lang="en-GB" dirty="0"/>
                  <a:t>And the </a:t>
                </a:r>
                <a:r>
                  <a:rPr lang="en-GB" b="1" dirty="0"/>
                  <a:t>residuals</a:t>
                </a:r>
                <a:r>
                  <a:rPr lang="en-GB" dirty="0"/>
                  <a:t> can be calculated as</a:t>
                </a:r>
                <a:r>
                  <a:rPr lang="en-GB" b="1" dirty="0"/>
                  <a:t/>
                </a:r>
                <a:br>
                  <a:rPr lang="en-GB" b="1" dirty="0"/>
                </a:br>
                <a:r>
                  <a:rPr lang="en-GB" b="1" dirty="0"/>
                  <a:t/>
                </a:r>
                <a:br>
                  <a:rPr lang="en-GB" b="1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744C8E-9B37-7A56-36A2-BA4506550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04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BEF15-53DF-DD05-B680-403E6006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Statistical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0F0908-1A4D-3E8D-1044-907BA5040E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To conduct traditional statistical inference about the coefficients (do they differ from zero by more than what may be claimed to be random variation), we need some </a:t>
                </a:r>
                <a:r>
                  <a:rPr lang="en-GB" b="1" dirty="0"/>
                  <a:t>model assumptions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These mainly revolve around the error term</a:t>
                </a:r>
                <a:br>
                  <a:rPr lang="en-GB" dirty="0"/>
                </a:br>
                <a:r>
                  <a:rPr lang="en-GB" dirty="0"/>
                  <a:t/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0, 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0F0908-1A4D-3E8D-1044-907BA5040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0053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B73D-A01C-35A8-9985-FB8CF7D2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0B26C-09B3-9D7B-60FB-5101A98CD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residuals are </a:t>
            </a:r>
          </a:p>
          <a:p>
            <a:pPr lvl="1"/>
            <a:r>
              <a:rPr lang="en-GB" dirty="0"/>
              <a:t>normally distributed,</a:t>
            </a:r>
          </a:p>
          <a:p>
            <a:pPr lvl="1"/>
            <a:r>
              <a:rPr lang="en-GB" dirty="0"/>
              <a:t>with a mean of zero,</a:t>
            </a:r>
          </a:p>
          <a:p>
            <a:pPr lvl="1"/>
            <a:r>
              <a:rPr lang="en-GB" dirty="0"/>
              <a:t>and a constant variance.</a:t>
            </a:r>
          </a:p>
          <a:p>
            <a:endParaRPr lang="en-GB" dirty="0"/>
          </a:p>
          <a:p>
            <a:r>
              <a:rPr lang="en-GB" dirty="0"/>
              <a:t>All observations are independent of each other.</a:t>
            </a:r>
          </a:p>
        </p:txBody>
      </p:sp>
    </p:spTree>
    <p:extLst>
      <p:ext uri="{BB962C8B-B14F-4D97-AF65-F5344CB8AC3E}">
        <p14:creationId xmlns:p14="http://schemas.microsoft.com/office/powerpoint/2010/main" val="205604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B5AD-761B-52A5-9E38-0C1D14829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Fake data example – perfectly behaved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9421D28-186C-F247-9BC4-3AC4A5D7963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Generated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=5+2×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0, 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s-ES" dirty="0">
                    <a:latin typeface="Consolas" panose="020B0609020204030204" pitchFamily="49" charset="0"/>
                  </a:rPr>
                  <a:t>&gt; </a:t>
                </a:r>
                <a:r>
                  <a:rPr lang="es-ES" dirty="0" err="1">
                    <a:latin typeface="Consolas" panose="020B0609020204030204" pitchFamily="49" charset="0"/>
                  </a:rPr>
                  <a:t>cor</a:t>
                </a:r>
                <a:r>
                  <a:rPr lang="es-ES" dirty="0">
                    <a:latin typeface="Consolas" panose="020B0609020204030204" pitchFamily="49" charset="0"/>
                  </a:rPr>
                  <a:t>(</a:t>
                </a:r>
                <a:r>
                  <a:rPr lang="es-ES" dirty="0" err="1">
                    <a:latin typeface="Consolas" panose="020B0609020204030204" pitchFamily="49" charset="0"/>
                  </a:rPr>
                  <a:t>x,y</a:t>
                </a:r>
                <a:r>
                  <a:rPr lang="es-ES" dirty="0">
                    <a:latin typeface="Consolas" panose="020B0609020204030204" pitchFamily="49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s-ES" dirty="0">
                    <a:latin typeface="Consolas" panose="020B0609020204030204" pitchFamily="49" charset="0"/>
                  </a:rPr>
                  <a:t>[1] 0.9997796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9421D28-186C-F247-9BC4-3AC4A5D79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C9A1B76-D456-D25C-15B9-306431A3AA9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19800" y="934627"/>
            <a:ext cx="5688889" cy="6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87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811C-2C52-AEAE-8BE4-A45CD68E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487F3-D878-D1CE-AD8D-369AA4650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dirty="0">
                <a:latin typeface="Consolas" panose="020B0609020204030204" pitchFamily="49" charset="0"/>
              </a:rPr>
              <a:t>Call: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 err="1">
                <a:latin typeface="Consolas" panose="020B0609020204030204" pitchFamily="49" charset="0"/>
              </a:rPr>
              <a:t>lm</a:t>
            </a:r>
            <a:r>
              <a:rPr lang="en-GB" dirty="0">
                <a:latin typeface="Consolas" panose="020B0609020204030204" pitchFamily="49" charset="0"/>
              </a:rPr>
              <a:t>(formula = y ~ x)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latin typeface="Consolas" panose="020B0609020204030204" pitchFamily="49" charset="0"/>
              </a:rPr>
              <a:t>Residuals: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latin typeface="Consolas" panose="020B0609020204030204" pitchFamily="49" charset="0"/>
              </a:rPr>
              <a:t>    Min      1Q  Median      3Q     Max 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latin typeface="Consolas" panose="020B0609020204030204" pitchFamily="49" charset="0"/>
              </a:rPr>
              <a:t>-38.250  -7.405   0.549   9.628  25.101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latin typeface="Consolas" panose="020B0609020204030204" pitchFamily="49" charset="0"/>
              </a:rPr>
              <a:t>Coefficients: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latin typeface="Consolas" panose="020B0609020204030204" pitchFamily="49" charset="0"/>
              </a:rPr>
              <a:t>            Estimate Std. Error t value </a:t>
            </a:r>
            <a:r>
              <a:rPr lang="en-GB" dirty="0" err="1">
                <a:latin typeface="Consolas" panose="020B0609020204030204" pitchFamily="49" charset="0"/>
              </a:rPr>
              <a:t>Pr</a:t>
            </a:r>
            <a:r>
              <a:rPr lang="en-GB" dirty="0">
                <a:latin typeface="Consolas" panose="020B0609020204030204" pitchFamily="49" charset="0"/>
              </a:rPr>
              <a:t>(&gt;|t|)    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latin typeface="Consolas" panose="020B0609020204030204" pitchFamily="49" charset="0"/>
              </a:rPr>
              <a:t>(Intercept) 5.715055   2.909252   1.964   0.0533 .  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latin typeface="Consolas" panose="020B0609020204030204" pitchFamily="49" charset="0"/>
              </a:rPr>
              <a:t>x           2.000785   0.004917 406.926   &lt;2e-16 ***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latin typeface="Consolas" panose="020B0609020204030204" pitchFamily="49" charset="0"/>
              </a:rPr>
              <a:t>---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 err="1">
                <a:latin typeface="Consolas" panose="020B0609020204030204" pitchFamily="49" charset="0"/>
              </a:rPr>
              <a:t>Signif</a:t>
            </a:r>
            <a:r>
              <a:rPr lang="en-GB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latin typeface="Consolas" panose="020B0609020204030204" pitchFamily="49" charset="0"/>
              </a:rPr>
              <a:t>Residual standard error: 12.65 on 73 degrees of freedom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latin typeface="Consolas" panose="020B0609020204030204" pitchFamily="49" charset="0"/>
              </a:rPr>
              <a:t>Multiple R-squared:  0.9996,	Adjusted R-squared:  0.9996 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latin typeface="Consolas" panose="020B0609020204030204" pitchFamily="49" charset="0"/>
              </a:rPr>
              <a:t>F-statistic: 1.656e+05 on 1 and 73 DF,  p-value: &lt; 2.2e-16</a:t>
            </a:r>
          </a:p>
        </p:txBody>
      </p:sp>
    </p:spTree>
    <p:extLst>
      <p:ext uri="{BB962C8B-B14F-4D97-AF65-F5344CB8AC3E}">
        <p14:creationId xmlns:p14="http://schemas.microsoft.com/office/powerpoint/2010/main" val="4269278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EBB7-E9B7-2320-4370-AD12372A7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 model assumptions/performance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0433E9-9C71-F844-330A-8B7936375B1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05066" y="1287746"/>
            <a:ext cx="8381868" cy="520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431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B5AD-761B-52A5-9E38-0C1D14829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Another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1D28-186C-F247-9BC4-3AC4A5D796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Vapour pressure of mercury</a:t>
            </a:r>
          </a:p>
          <a:p>
            <a:pPr marL="0" indent="0">
              <a:buNone/>
            </a:pPr>
            <a:r>
              <a:rPr lang="en-GB" b="0" dirty="0"/>
              <a:t>as a function of temperature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0" dirty="0"/>
              <a:t>(from the ‘pressure’ data </a:t>
            </a:r>
          </a:p>
          <a:p>
            <a:pPr marL="0" indent="0">
              <a:buNone/>
            </a:pPr>
            <a:r>
              <a:rPr lang="en-GB" b="0" dirty="0"/>
              <a:t>that is inbuilt in R)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s-ES" dirty="0" err="1">
                <a:latin typeface="Consolas" panose="020B0609020204030204" pitchFamily="49" charset="0"/>
              </a:rPr>
              <a:t>with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pressure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cor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temperature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pressure</a:t>
            </a:r>
            <a:r>
              <a:rPr lang="es-ES" dirty="0"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[1] 0.7577923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2178D-C80E-BB98-B0D5-5D8155C8787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76933" y="478589"/>
            <a:ext cx="6971428" cy="615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26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811C-2C52-AEAE-8BE4-A45CD68E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487F3-D878-D1CE-AD8D-369AA4650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763"/>
            <a:ext cx="10515600" cy="5134468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>
                <a:latin typeface="Consolas" panose="020B0609020204030204" pitchFamily="49" charset="0"/>
              </a:rPr>
              <a:t>Call: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 err="1">
                <a:latin typeface="Consolas" panose="020B0609020204030204" pitchFamily="49" charset="0"/>
              </a:rPr>
              <a:t>lm</a:t>
            </a:r>
            <a:r>
              <a:rPr lang="en-GB" dirty="0">
                <a:latin typeface="Consolas" panose="020B0609020204030204" pitchFamily="49" charset="0"/>
              </a:rPr>
              <a:t>(formula = pressure ~ temperature, data = pressure)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>
                <a:latin typeface="Consolas" panose="020B0609020204030204" pitchFamily="49" charset="0"/>
              </a:rPr>
              <a:t>    Min      1Q  Median      3Q     Max 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>
                <a:latin typeface="Consolas" panose="020B0609020204030204" pitchFamily="49" charset="0"/>
              </a:rPr>
              <a:t>-158.08 -117.06  -32.84   72.30  409.43 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>
                <a:latin typeface="Consolas" panose="020B0609020204030204" pitchFamily="49" charset="0"/>
              </a:rPr>
              <a:t>             Estimate Std. Error t value </a:t>
            </a:r>
            <a:r>
              <a:rPr lang="en-GB" dirty="0" err="1">
                <a:latin typeface="Consolas" panose="020B0609020204030204" pitchFamily="49" charset="0"/>
              </a:rPr>
              <a:t>Pr</a:t>
            </a:r>
            <a:r>
              <a:rPr lang="en-GB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>
                <a:latin typeface="Consolas" panose="020B0609020204030204" pitchFamily="49" charset="0"/>
              </a:rPr>
              <a:t>(Intercept) -147.8989    66.5529  -2.222 0.040124 *  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>
                <a:latin typeface="Consolas" panose="020B0609020204030204" pitchFamily="49" charset="0"/>
              </a:rPr>
              <a:t>temperature    1.5124     0.3158   4.788 0.000171 ***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 err="1">
                <a:latin typeface="Consolas" panose="020B0609020204030204" pitchFamily="49" charset="0"/>
              </a:rPr>
              <a:t>Signif</a:t>
            </a:r>
            <a:r>
              <a:rPr lang="en-GB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>
                <a:latin typeface="Consolas" panose="020B0609020204030204" pitchFamily="49" charset="0"/>
              </a:rPr>
              <a:t>Residual standard error: 150.8 on 17 degrees of freedom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>
                <a:latin typeface="Consolas" panose="020B0609020204030204" pitchFamily="49" charset="0"/>
              </a:rPr>
              <a:t>Multiple R-squared:  0.5742,	Adjusted R-squared:  0.5492 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GB" dirty="0">
                <a:latin typeface="Consolas" panose="020B0609020204030204" pitchFamily="49" charset="0"/>
              </a:rPr>
              <a:t>F-statistic: 22.93 on 1 and 17 DF,  p-value: 0.000171</a:t>
            </a:r>
          </a:p>
        </p:txBody>
      </p:sp>
    </p:spTree>
    <p:extLst>
      <p:ext uri="{BB962C8B-B14F-4D97-AF65-F5344CB8AC3E}">
        <p14:creationId xmlns:p14="http://schemas.microsoft.com/office/powerpoint/2010/main" val="269166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FA33B-9113-43EE-3F3E-2CFC25490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Untangling the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3214CB-E484-B59B-5151-2FDA173D1C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100"/>
                  </a:spcBef>
                  <a:buNone/>
                </a:pPr>
                <a:r>
                  <a:rPr lang="en-GB" sz="1800" dirty="0">
                    <a:latin typeface="Consolas" panose="020B0609020204030204" pitchFamily="49" charset="0"/>
                  </a:rPr>
                  <a:t>Coefficients: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100"/>
                  </a:spcBef>
                  <a:buNone/>
                </a:pPr>
                <a:r>
                  <a:rPr lang="en-GB" sz="1800" dirty="0">
                    <a:latin typeface="Consolas" panose="020B0609020204030204" pitchFamily="49" charset="0"/>
                  </a:rPr>
                  <a:t>             Estimate Std. Error t value </a:t>
                </a:r>
                <a:r>
                  <a:rPr lang="en-GB" sz="1800" dirty="0" err="1">
                    <a:latin typeface="Consolas" panose="020B0609020204030204" pitchFamily="49" charset="0"/>
                  </a:rPr>
                  <a:t>Pr</a:t>
                </a:r>
                <a:r>
                  <a:rPr lang="en-GB" sz="1800" dirty="0">
                    <a:latin typeface="Consolas" panose="020B0609020204030204" pitchFamily="49" charset="0"/>
                  </a:rPr>
                  <a:t>(&gt;|t|)  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100"/>
                  </a:spcBef>
                  <a:buNone/>
                </a:pPr>
                <a:r>
                  <a:rPr lang="en-GB" sz="1800" dirty="0">
                    <a:latin typeface="Consolas" panose="020B0609020204030204" pitchFamily="49" charset="0"/>
                  </a:rPr>
                  <a:t>(Intercept) -147.8989    66.5529  -2.222 0.040124 *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100"/>
                  </a:spcBef>
                  <a:buNone/>
                </a:pPr>
                <a:r>
                  <a:rPr lang="en-GB" sz="1800" dirty="0">
                    <a:latin typeface="Consolas" panose="020B0609020204030204" pitchFamily="49" charset="0"/>
                  </a:rPr>
                  <a:t>temperature    1.5124     0.3158   4.788 0.000171 ***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100"/>
                  </a:spcBef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𝑝𝑟𝑒𝑠𝑠𝑢𝑟𝑒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=−147.90+1.51×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𝑡𝑒𝑚𝑝𝑒𝑟𝑎𝑡𝑢𝑟𝑒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lnSpc>
                    <a:spcPct val="120000"/>
                  </a:lnSpc>
                  <a:spcBef>
                    <a:spcPts val="100"/>
                  </a:spcBef>
                  <a:buNone/>
                </a:pPr>
                <a:r>
                  <a:rPr lang="en-GB" sz="1800" dirty="0">
                    <a:latin typeface="Consolas" panose="020B0609020204030204" pitchFamily="49" charset="0"/>
                  </a:rPr>
                  <a:t>Multiple R-squared:  0.5742,	Adjusted R-squared:  0.5492 </a:t>
                </a:r>
              </a:p>
              <a:p>
                <a:pPr marL="0" indent="0">
                  <a:buNone/>
                </a:pPr>
                <a:r>
                  <a:rPr kumimoji="0" lang="en-GB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57.4% of the variation in pressure can be explained by temperature</a:t>
                </a:r>
                <a:endParaRPr lang="en-GB" sz="1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3214CB-E484-B59B-5151-2FDA173D1C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447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EBB7-E9B7-2320-4370-AD12372A7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 model assumptions/performance</a:t>
            </a: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8B387CF3-1BB8-6650-A6BC-FF0F4F8B0C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75881" y="-1091119"/>
            <a:ext cx="4672519" cy="467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Picture 10" descr="A screenshot of a graph">
            <a:extLst>
              <a:ext uri="{FF2B5EF4-FFF2-40B4-BE49-F238E27FC236}">
                <a16:creationId xmlns:a16="http://schemas.microsoft.com/office/drawing/2014/main" id="{753F26AC-CBFE-569F-5121-0BEA1660E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882" y="1553591"/>
            <a:ext cx="8630480" cy="515555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3517771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02349a0-d0eb-4e83-9827-d63fd2696fb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3EBCCE078E7C46A90D55CE0842805B" ma:contentTypeVersion="15" ma:contentTypeDescription="Create a new document." ma:contentTypeScope="" ma:versionID="b8880d8e1577f529bde2566ae21926cf">
  <xsd:schema xmlns:xsd="http://www.w3.org/2001/XMLSchema" xmlns:xs="http://www.w3.org/2001/XMLSchema" xmlns:p="http://schemas.microsoft.com/office/2006/metadata/properties" xmlns:ns3="702349a0-d0eb-4e83-9827-d63fd2696fbc" xmlns:ns4="64161dbf-c103-48dc-9847-86a12ed9b0ed" targetNamespace="http://schemas.microsoft.com/office/2006/metadata/properties" ma:root="true" ma:fieldsID="24262f83401e13dce5ebfcbbfbdcec15" ns3:_="" ns4:_="">
    <xsd:import namespace="702349a0-d0eb-4e83-9827-d63fd2696fbc"/>
    <xsd:import namespace="64161dbf-c103-48dc-9847-86a12ed9b0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2349a0-d0eb-4e83-9827-d63fd2696f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161dbf-c103-48dc-9847-86a12ed9b0e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E09904-ADB2-48B2-A6DF-3C9BCDAC57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32D5C2-F05E-4622-BA9F-6B6F24497CF2}">
  <ds:schemaRefs>
    <ds:schemaRef ds:uri="http://schemas.microsoft.com/office/2006/documentManagement/types"/>
    <ds:schemaRef ds:uri="http://schemas.microsoft.com/office/infopath/2007/PartnerControls"/>
    <ds:schemaRef ds:uri="702349a0-d0eb-4e83-9827-d63fd2696fbc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64161dbf-c103-48dc-9847-86a12ed9b0ed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BA47428-1421-4AE4-B909-2EB7D37343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2349a0-d0eb-4e83-9827-d63fd2696fbc"/>
    <ds:schemaRef ds:uri="64161dbf-c103-48dc-9847-86a12ed9b0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830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Consolas</vt:lpstr>
      <vt:lpstr>Office Theme</vt:lpstr>
      <vt:lpstr>Getting started for simple linear regression</vt:lpstr>
      <vt:lpstr>Simple linear regression</vt:lpstr>
      <vt:lpstr>Simple linear regression</vt:lpstr>
      <vt:lpstr>Linear model</vt:lpstr>
      <vt:lpstr>Fitted values</vt:lpstr>
      <vt:lpstr>Statistical inference</vt:lpstr>
      <vt:lpstr>Model assumptions</vt:lpstr>
      <vt:lpstr>Fake data example – perfectly behaved</vt:lpstr>
      <vt:lpstr>Results</vt:lpstr>
      <vt:lpstr>Check model assumptions/performance</vt:lpstr>
      <vt:lpstr>Another example</vt:lpstr>
      <vt:lpstr>Results</vt:lpstr>
      <vt:lpstr>Untangling the results</vt:lpstr>
      <vt:lpstr>Check model assumptions/performance</vt:lpstr>
    </vt:vector>
  </TitlesOfParts>
  <Company>University of the West of England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Summarising and Visualisation as an Analysis Tool</dc:title>
  <dc:creator>Deirdre Toher</dc:creator>
  <cp:lastModifiedBy>Ben Derrick</cp:lastModifiedBy>
  <cp:revision>13</cp:revision>
  <dcterms:created xsi:type="dcterms:W3CDTF">2021-02-23T15:22:28Z</dcterms:created>
  <dcterms:modified xsi:type="dcterms:W3CDTF">2023-11-16T13:16:43Z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0x010100763EBCCE078E7C46A90D55CE0842805B</vt:lpwstr>
  </property>
</Properties>
</file>