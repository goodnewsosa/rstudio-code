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mith" userId="c30f9444-73c0-4195-b6ec-27ac280af64f" providerId="ADAL" clId="{EC6EE163-39D2-4C12-95C7-4EFD228A47C7}"/>
    <pc:docChg chg="modSld">
      <pc:chgData name="Andrew Smith" userId="c30f9444-73c0-4195-b6ec-27ac280af64f" providerId="ADAL" clId="{EC6EE163-39D2-4C12-95C7-4EFD228A47C7}" dt="2023-11-20T13:17:35.616" v="27" actId="20577"/>
      <pc:docMkLst>
        <pc:docMk/>
      </pc:docMkLst>
      <pc:sldChg chg="modSp mod">
        <pc:chgData name="Andrew Smith" userId="c30f9444-73c0-4195-b6ec-27ac280af64f" providerId="ADAL" clId="{EC6EE163-39D2-4C12-95C7-4EFD228A47C7}" dt="2023-11-20T13:17:35.616" v="27" actId="20577"/>
        <pc:sldMkLst>
          <pc:docMk/>
          <pc:sldMk cId="1524308716" sldId="276"/>
        </pc:sldMkLst>
        <pc:spChg chg="mod">
          <ac:chgData name="Andrew Smith" userId="c30f9444-73c0-4195-b6ec-27ac280af64f" providerId="ADAL" clId="{EC6EE163-39D2-4C12-95C7-4EFD228A47C7}" dt="2023-11-20T13:17:35.616" v="27" actId="20577"/>
          <ac:spMkLst>
            <pc:docMk/>
            <pc:sldMk cId="1524308716" sldId="276"/>
            <ac:spMk id="3" creationId="{FB5B3762-A158-0CF6-0340-A687923DB11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91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80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29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65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62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49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6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0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44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42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58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E81F9-3FBA-4C18-9B4A-64B583EDF276}" type="datetimeFigureOut">
              <a:rPr lang="en-GB" smtClean="0"/>
              <a:t>20/11/2023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2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 for multiple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Blackboard &gt;&gt; Statistical Inference &gt;&gt; Learning materials &gt;&gt; Week 8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Download </a:t>
            </a:r>
            <a:r>
              <a:rPr lang="en-GB" b="1" dirty="0" err="1"/>
              <a:t>MultipleRegression_worksheet.Rmd</a:t>
            </a:r>
            <a:r>
              <a:rPr lang="en-GB" b="1" dirty="0"/>
              <a:t> </a:t>
            </a:r>
            <a:r>
              <a:rPr lang="en-GB" dirty="0"/>
              <a:t>from Blackboard. Ideally put it in your </a:t>
            </a:r>
            <a:r>
              <a:rPr lang="en-GB" b="1" dirty="0"/>
              <a:t>scripts</a:t>
            </a:r>
            <a:r>
              <a:rPr lang="en-GB" dirty="0"/>
              <a:t> folder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Open </a:t>
            </a:r>
            <a:r>
              <a:rPr lang="en-GB" dirty="0" err="1"/>
              <a:t>MultipleRegression_worksheet.Rmd</a:t>
            </a:r>
            <a:r>
              <a:rPr lang="en-GB" dirty="0"/>
              <a:t> in </a:t>
            </a:r>
            <a:r>
              <a:rPr lang="en-GB" dirty="0" err="1"/>
              <a:t>Rstudio</a:t>
            </a:r>
            <a:r>
              <a:rPr lang="en-GB" dirty="0"/>
              <a:t>. Ideally, </a:t>
            </a:r>
            <a:r>
              <a:rPr lang="en-GB" b="1" dirty="0"/>
              <a:t>set your working directory </a:t>
            </a:r>
            <a:r>
              <a:rPr lang="en-GB" dirty="0"/>
              <a:t>to the </a:t>
            </a:r>
            <a:r>
              <a:rPr lang="en-GB" b="1" dirty="0"/>
              <a:t>scripts</a:t>
            </a:r>
            <a:r>
              <a:rPr lang="en-GB" dirty="0"/>
              <a:t> folder.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Make sure you have </a:t>
            </a:r>
            <a:r>
              <a:rPr lang="en-GB" b="1" dirty="0"/>
              <a:t>all</a:t>
            </a:r>
            <a:r>
              <a:rPr lang="en-GB" dirty="0"/>
              <a:t> the necessary packages installed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Knit to html</a:t>
            </a:r>
          </a:p>
        </p:txBody>
      </p:sp>
    </p:spTree>
    <p:extLst>
      <p:ext uri="{BB962C8B-B14F-4D97-AF65-F5344CB8AC3E}">
        <p14:creationId xmlns:p14="http://schemas.microsoft.com/office/powerpoint/2010/main" val="184817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1ADEC-5C26-2AD5-8E9F-ACDB35F3E7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Multiple linear regression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A120C82-26F7-C23C-B5E2-A90DD1FC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Statistical Inference</a:t>
            </a:r>
          </a:p>
          <a:p>
            <a:r>
              <a:rPr lang="en-GB" dirty="0"/>
              <a:t>Week 8</a:t>
            </a:r>
          </a:p>
        </p:txBody>
      </p:sp>
    </p:spTree>
    <p:extLst>
      <p:ext uri="{BB962C8B-B14F-4D97-AF65-F5344CB8AC3E}">
        <p14:creationId xmlns:p14="http://schemas.microsoft.com/office/powerpoint/2010/main" val="104191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4A3-6F37-C4C7-013B-ACC6D8AF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Remember the linear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9B5BF-9A36-D0A4-5FBA-1DEAF4C0A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Previously we looked at the </a:t>
                </a:r>
                <a:r>
                  <a:rPr lang="en-GB" i="1" dirty="0"/>
                  <a:t>simple</a:t>
                </a:r>
                <a:r>
                  <a:rPr lang="en-GB" dirty="0"/>
                  <a:t> linear model </a:t>
                </a:r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dependent variable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independent variable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represents the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represents the slope/gradient </a:t>
                </a:r>
                <a:r>
                  <a:rPr lang="en-GB" i="1" dirty="0"/>
                  <a:t>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residuals, denoted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dirty="0"/>
                  <a:t>, represent how far an observation is from the fitted value. We make certain assumptions about the residuals.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9B5BF-9A36-D0A4-5FBA-1DEAF4C0A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87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4A3-6F37-C4C7-013B-ACC6D8AF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i="1" dirty="0"/>
              <a:t>multiple</a:t>
            </a:r>
            <a:r>
              <a:rPr lang="en-GB" dirty="0"/>
              <a:t>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9B5BF-9A36-D0A4-5FBA-1DEAF4C0A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Now we introduce </a:t>
                </a:r>
                <a:r>
                  <a:rPr lang="en-GB" b="1" dirty="0"/>
                  <a:t>multiple independent variables</a:t>
                </a:r>
                <a:endParaRPr lang="en-GB" dirty="0"/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dependent variable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 are all independent 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represents the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represents the slope/gradient </a:t>
                </a:r>
                <a:r>
                  <a:rPr lang="en-GB" i="1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represents the slope/gradient </a:t>
                </a:r>
                <a:r>
                  <a:rPr lang="en-GB" i="1" dirty="0"/>
                  <a:t>for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and so on…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 represents the slope/gradient </a:t>
                </a:r>
                <a:r>
                  <a:rPr lang="en-GB" i="1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9B5BF-9A36-D0A4-5FBA-1DEAF4C0A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78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4A3-6F37-C4C7-013B-ACC6D8AF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9B5BF-9A36-D0A4-5FBA-1DEAF4C0A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multiple linear regression model has the same assumptions as the simple linear regression model:</a:t>
            </a:r>
          </a:p>
          <a:p>
            <a:endParaRPr lang="en-GB" dirty="0"/>
          </a:p>
          <a:p>
            <a:r>
              <a:rPr lang="en-GB" dirty="0"/>
              <a:t>The residuals are </a:t>
            </a:r>
          </a:p>
          <a:p>
            <a:pPr lvl="1"/>
            <a:r>
              <a:rPr lang="en-GB" dirty="0"/>
              <a:t>normally distributed,</a:t>
            </a:r>
          </a:p>
          <a:p>
            <a:pPr lvl="1"/>
            <a:r>
              <a:rPr lang="en-GB" dirty="0"/>
              <a:t>with a mean of zero,</a:t>
            </a:r>
          </a:p>
          <a:p>
            <a:pPr lvl="1"/>
            <a:r>
              <a:rPr lang="en-GB" dirty="0"/>
              <a:t>and a constant variance.</a:t>
            </a:r>
          </a:p>
          <a:p>
            <a:endParaRPr lang="en-GB" dirty="0"/>
          </a:p>
          <a:p>
            <a:r>
              <a:rPr lang="en-GB" dirty="0"/>
              <a:t>All observations are independent of each other.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049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1F97-8FB1-2E8D-0B93-39D3FD5D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2CC5C-0F10-944E-A7D2-979206E75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Previously we investigated the ‘</a:t>
                </a:r>
                <a:r>
                  <a:rPr lang="en-GB" dirty="0" err="1"/>
                  <a:t>mtcars</a:t>
                </a:r>
                <a:r>
                  <a:rPr lang="en-GB" dirty="0"/>
                  <a:t>’ dataset.</a:t>
                </a:r>
              </a:p>
              <a:p>
                <a:r>
                  <a:rPr lang="en-GB" dirty="0"/>
                  <a:t>We fitted a simple linear regression model</a:t>
                </a:r>
              </a:p>
              <a:p>
                <a:pPr lvl="1"/>
                <a:r>
                  <a:rPr lang="en-GB" dirty="0"/>
                  <a:t>mpg was the dependent variable</a:t>
                </a:r>
              </a:p>
              <a:p>
                <a:pPr lvl="1"/>
                <a:r>
                  <a:rPr lang="en-GB" dirty="0" err="1"/>
                  <a:t>wt</a:t>
                </a:r>
                <a:r>
                  <a:rPr lang="en-GB" dirty="0"/>
                  <a:t> was the independent variable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mpg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wt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2CC5C-0F10-944E-A7D2-979206E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53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1F97-8FB1-2E8D-0B93-39D3FD5D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2CC5C-0F10-944E-A7D2-979206E75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With the same dataset we could fit a multiple linear regression model</a:t>
                </a:r>
              </a:p>
              <a:p>
                <a:r>
                  <a:rPr lang="en-GB" dirty="0"/>
                  <a:t>For instance, a model with three independent variables </a:t>
                </a:r>
              </a:p>
              <a:p>
                <a:pPr lvl="1"/>
                <a:r>
                  <a:rPr lang="en-GB" dirty="0"/>
                  <a:t>mpg is still the dependent variable</a:t>
                </a:r>
              </a:p>
              <a:p>
                <a:pPr lvl="1"/>
                <a:r>
                  <a:rPr lang="en-GB" dirty="0" err="1"/>
                  <a:t>wt</a:t>
                </a:r>
                <a:r>
                  <a:rPr lang="en-GB" dirty="0"/>
                  <a:t> is one independent variable</a:t>
                </a:r>
              </a:p>
              <a:p>
                <a:pPr lvl="1"/>
                <a:r>
                  <a:rPr lang="en-GB" dirty="0" err="1"/>
                  <a:t>qsec</a:t>
                </a:r>
                <a:r>
                  <a:rPr lang="en-GB" dirty="0"/>
                  <a:t> is a second independent variable</a:t>
                </a:r>
              </a:p>
              <a:p>
                <a:pPr lvl="1"/>
                <a:r>
                  <a:rPr lang="en-GB" dirty="0"/>
                  <a:t>am is a third independent variable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mpg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wt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qsec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am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2CC5C-0F10-944E-A7D2-979206E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57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47AD-0B74-0B46-AD11-EF53367E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Multicollinearity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3762-A158-0CF6-0340-A687923DB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certain problem that occurs in multiple linear regression models.</a:t>
            </a:r>
          </a:p>
          <a:p>
            <a:r>
              <a:rPr lang="en-GB" dirty="0"/>
              <a:t>Caused by </a:t>
            </a:r>
            <a:r>
              <a:rPr lang="en-GB" b="1" dirty="0"/>
              <a:t>high correlation(s) between the independent variables</a:t>
            </a:r>
            <a:r>
              <a:rPr lang="en-GB" dirty="0"/>
              <a:t>.</a:t>
            </a:r>
          </a:p>
          <a:p>
            <a:r>
              <a:rPr lang="en-GB" dirty="0"/>
              <a:t>Leads to various problems, including:</a:t>
            </a:r>
          </a:p>
          <a:p>
            <a:pPr lvl="1"/>
            <a:r>
              <a:rPr lang="en-GB" dirty="0"/>
              <a:t>Independent variables appearing not statistically significant when otherwise they might be.</a:t>
            </a:r>
          </a:p>
          <a:p>
            <a:pPr lvl="1"/>
            <a:r>
              <a:rPr lang="en-GB" dirty="0"/>
              <a:t>Not able to give precise estimates; model difficult to replicate.</a:t>
            </a:r>
          </a:p>
          <a:p>
            <a:pPr lvl="1"/>
            <a:r>
              <a:rPr lang="en-GB" dirty="0"/>
              <a:t>Information overlap: unable to separate variables or their effects.</a:t>
            </a:r>
          </a:p>
          <a:p>
            <a:r>
              <a:rPr lang="en-GB" dirty="0"/>
              <a:t>One solution is to simplify the model:</a:t>
            </a:r>
          </a:p>
          <a:p>
            <a:pPr lvl="1"/>
            <a:r>
              <a:rPr lang="en-GB" dirty="0"/>
              <a:t>By dropping correlated independent variables.</a:t>
            </a:r>
          </a:p>
          <a:p>
            <a:pPr lvl="1"/>
            <a:r>
              <a:rPr lang="en-GB" dirty="0"/>
              <a:t>Through model selection (such </a:t>
            </a:r>
            <a:r>
              <a:rPr lang="en-GB"/>
              <a:t>as stepwise AIC).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30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Interpreting the final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the expected change in </a:t>
            </a:r>
            <a:r>
              <a:rPr lang="en-GB" b="1" dirty="0"/>
              <a:t>mpg</a:t>
            </a:r>
            <a:r>
              <a:rPr lang="en-GB" dirty="0"/>
              <a:t> as a car’s weight (</a:t>
            </a:r>
            <a:r>
              <a:rPr lang="en-GB" b="1" dirty="0" err="1"/>
              <a:t>wt</a:t>
            </a:r>
            <a:r>
              <a:rPr lang="en-GB" dirty="0"/>
              <a:t>) increases?</a:t>
            </a:r>
          </a:p>
          <a:p>
            <a:pPr marL="457200" lvl="1" indent="0">
              <a:buNone/>
            </a:pPr>
            <a:r>
              <a:rPr lang="en-GB" dirty="0"/>
              <a:t> </a:t>
            </a:r>
          </a:p>
          <a:p>
            <a:r>
              <a:rPr lang="en-GB" b="1" dirty="0" err="1"/>
              <a:t>qsec</a:t>
            </a:r>
            <a:r>
              <a:rPr lang="en-GB" dirty="0"/>
              <a:t> is the time to do a quarter-mile from a standing start.</a:t>
            </a:r>
            <a:br>
              <a:rPr lang="en-GB" dirty="0"/>
            </a:br>
            <a:r>
              <a:rPr lang="en-GB" dirty="0"/>
              <a:t>What is the difference in </a:t>
            </a:r>
            <a:r>
              <a:rPr lang="en-GB" b="1" dirty="0"/>
              <a:t>mpg</a:t>
            </a:r>
            <a:r>
              <a:rPr lang="en-GB" dirty="0"/>
              <a:t> for a car that can do a 10 second quarter mile, compared with a car that can only do a 20 second quarter mile?</a:t>
            </a:r>
          </a:p>
          <a:p>
            <a:pPr marL="457200" lvl="1" indent="0">
              <a:buNone/>
            </a:pPr>
            <a:r>
              <a:rPr lang="en-GB" dirty="0"/>
              <a:t> </a:t>
            </a:r>
          </a:p>
          <a:p>
            <a:r>
              <a:rPr lang="en-GB" b="1" dirty="0"/>
              <a:t>am = 0 </a:t>
            </a:r>
            <a:r>
              <a:rPr lang="en-GB" dirty="0"/>
              <a:t>for automatic, </a:t>
            </a:r>
            <a:r>
              <a:rPr lang="en-GB" b="1" dirty="0"/>
              <a:t>am = 1</a:t>
            </a:r>
            <a:r>
              <a:rPr lang="en-GB" dirty="0"/>
              <a:t> for manual</a:t>
            </a:r>
            <a:br>
              <a:rPr lang="en-GB" dirty="0"/>
            </a:br>
            <a:r>
              <a:rPr lang="en-GB" dirty="0"/>
              <a:t>Which has better </a:t>
            </a:r>
            <a:r>
              <a:rPr lang="en-GB" b="1" dirty="0"/>
              <a:t>mpg</a:t>
            </a:r>
            <a:r>
              <a:rPr lang="en-GB" dirty="0"/>
              <a:t>, an automatic or a manual car?</a:t>
            </a:r>
          </a:p>
          <a:p>
            <a:pPr marL="457200" lvl="1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871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495DC29F69DA41B831D7985DDEFF7A" ma:contentTypeVersion="13" ma:contentTypeDescription="Create a new document." ma:contentTypeScope="" ma:versionID="34765791e6d76ab2199ba2eeb1a8e8cb">
  <xsd:schema xmlns:xsd="http://www.w3.org/2001/XMLSchema" xmlns:xs="http://www.w3.org/2001/XMLSchema" xmlns:p="http://schemas.microsoft.com/office/2006/metadata/properties" xmlns:ns3="da5da9df-85e1-4e4b-b319-af1e48434c21" xmlns:ns4="f6569699-ae44-4c85-9383-dd5a41d3d471" targetNamespace="http://schemas.microsoft.com/office/2006/metadata/properties" ma:root="true" ma:fieldsID="a2b36deb50d374eb0926f211dfb86b1d" ns3:_="" ns4:_="">
    <xsd:import namespace="da5da9df-85e1-4e4b-b319-af1e48434c21"/>
    <xsd:import namespace="f6569699-ae44-4c85-9383-dd5a41d3d47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5da9df-85e1-4e4b-b319-af1e48434c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69699-ae44-4c85-9383-dd5a41d3d4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32D5C2-F05E-4622-BA9F-6B6F24497CF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f6569699-ae44-4c85-9383-dd5a41d3d471"/>
    <ds:schemaRef ds:uri="http://purl.org/dc/terms/"/>
    <ds:schemaRef ds:uri="http://schemas.openxmlformats.org/package/2006/metadata/core-properties"/>
    <ds:schemaRef ds:uri="da5da9df-85e1-4e4b-b319-af1e48434c2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03219D-1F41-43EF-B22A-70CCFDE9DF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5da9df-85e1-4e4b-b319-af1e48434c21"/>
    <ds:schemaRef ds:uri="f6569699-ae44-4c85-9383-dd5a41d3d4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E09904-ADB2-48B2-A6DF-3C9BCDAC57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534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Getting started for multiple regression</vt:lpstr>
      <vt:lpstr>Multiple linear regression</vt:lpstr>
      <vt:lpstr>Remember the linear model?</vt:lpstr>
      <vt:lpstr>The multiple linear model</vt:lpstr>
      <vt:lpstr>Model assumptions</vt:lpstr>
      <vt:lpstr>Example</vt:lpstr>
      <vt:lpstr>Example</vt:lpstr>
      <vt:lpstr>Multicollinearity</vt:lpstr>
      <vt:lpstr>Interpreting the final model</vt:lpstr>
    </vt:vector>
  </TitlesOfParts>
  <Company>University of the West of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Summarising and Visualisation as an Analysis Tool</dc:title>
  <dc:creator>Deirdre Toher</dc:creator>
  <cp:lastModifiedBy>Andrew Smith</cp:lastModifiedBy>
  <cp:revision>6</cp:revision>
  <dcterms:created xsi:type="dcterms:W3CDTF">2021-02-23T15:22:28Z</dcterms:created>
  <dcterms:modified xsi:type="dcterms:W3CDTF">2023-11-20T13:17:37Z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0x0101001C495DC29F69DA41B831D7985DDEFF7A</vt:lpwstr>
  </property>
</Properties>
</file>